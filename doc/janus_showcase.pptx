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FE8019"/>
                </a:solidFill>
                <a:latin typeface="Arial"/>
              </a:defRPr>
            </a:pPr>
            <a:r>
              <a:t>ENTERPRISE MODEL CONTEXT PROTOCOL (MCP) SOLUTION</a:t>
            </a:r>
          </a:p>
          <a:p>
            <a:pPr>
              <a:spcAft>
                <a:spcPts val="1500"/>
              </a:spcAft>
              <a:defRPr sz="4800" b="1">
                <a:solidFill>
                  <a:srgbClr val="EBDBB2"/>
                </a:solidFill>
                <a:latin typeface="Arial"/>
              </a:defRPr>
            </a:pPr>
            <a:r>
              <a:t>JANUS API GATEWAY &amp; PORTAL</a:t>
            </a:r>
          </a:p>
          <a:p>
            <a:pPr>
              <a:spcAft>
                <a:spcPts val="4000"/>
              </a:spcAft>
              <a:defRPr sz="2000">
                <a:solidFill>
                  <a:srgbClr val="A89984"/>
                </a:solidFill>
                <a:latin typeface="Arial"/>
              </a:defRPr>
            </a:pPr>
            <a:r>
              <a:t>Securing, managing, and translating REST APIs into dynamic LLM tools.</a:t>
            </a:r>
          </a:p>
          <a:p>
            <a:pPr>
              <a:defRPr sz="1200" b="1">
                <a:solidFill>
                  <a:srgbClr val="FE8019"/>
                </a:solidFill>
                <a:latin typeface="Arial"/>
              </a:defRPr>
            </a:pPr>
            <a:r>
              <a:t>Regulated Environment Ready  •  Zero-Dependency Go Binary  •  mTLS &amp; Pluggable Vaults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E8019"/>
                </a:solidFill>
                <a:latin typeface="Arial"/>
              </a:defRPr>
            </a:pPr>
            <a:r>
              <a:t>JANUS MCP API 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BDBB2"/>
                </a:solidFill>
                <a:latin typeface="Arial"/>
              </a:defRPr>
            </a:pPr>
            <a:r>
              <a:t>Architectural Concept &amp;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BDBB2"/>
                </a:solidFill>
                <a:latin typeface="Arial"/>
              </a:defRPr>
            </a:pPr>
            <a:r>
              <a:t>• Dynamic Tool Translation: </a:t>
            </a:r>
          </a:p>
          <a:p>
            <a:pPr>
              <a:spcAft>
                <a:spcPts val="1200"/>
              </a:spcAft>
              <a:defRPr sz="1250">
                <a:solidFill>
                  <a:srgbClr val="A89984"/>
                </a:solidFill>
                <a:latin typeface="Arial"/>
              </a:defRPr>
            </a:pPr>
            <a:r>
              <a:t>Translates standard REST endpoints into dynamic MCP tools on the fly. Generates JSON parameter schemas automatically based on predefined templates.</a:t>
            </a:r>
          </a:p>
          <a:p>
            <a:pPr>
              <a:spcAft>
                <a:spcPts val="200"/>
              </a:spcAft>
              <a:defRPr sz="1400" b="1">
                <a:solidFill>
                  <a:srgbClr val="EBDBB2"/>
                </a:solidFill>
                <a:latin typeface="Arial"/>
              </a:defRPr>
            </a:pPr>
            <a:r>
              <a:t>• Runtime Secret Resolution: </a:t>
            </a:r>
          </a:p>
          <a:p>
            <a:pPr>
              <a:spcAft>
                <a:spcPts val="1200"/>
              </a:spcAft>
              <a:defRPr sz="1250">
                <a:solidFill>
                  <a:srgbClr val="A89984"/>
                </a:solidFill>
                <a:latin typeface="Arial"/>
              </a:defRPr>
            </a:pPr>
            <a:r>
              <a:t>Credentials are redacted in configurations and resolved securely at execution time from AWS Secrets Manager, GCP, Azure Vault, or Local JSON stores.</a:t>
            </a:r>
          </a:p>
          <a:p>
            <a:pPr>
              <a:spcAft>
                <a:spcPts val="200"/>
              </a:spcAft>
              <a:defRPr sz="1400" b="1">
                <a:solidFill>
                  <a:srgbClr val="EBDBB2"/>
                </a:solidFill>
                <a:latin typeface="Arial"/>
              </a:defRPr>
            </a:pPr>
            <a:r>
              <a:t>• Zero-State Architecture: </a:t>
            </a:r>
          </a:p>
          <a:p>
            <a:pPr>
              <a:spcAft>
                <a:spcPts val="1200"/>
              </a:spcAft>
              <a:defRPr sz="1250">
                <a:solidFill>
                  <a:srgbClr val="A89984"/>
                </a:solidFill>
                <a:latin typeface="Arial"/>
              </a:defRPr>
            </a:pPr>
            <a:r>
              <a:t>Allows stateless clustering in Kubernetes EKS. Keeps configs in PostgreSQL or SQLite, allowing clean horizontal scale-out.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BDBB2"/>
                </a:solidFill>
                <a:latin typeface="Arial"/>
              </a:defRPr>
            </a:pPr>
            <a:r>
              <a:t>• Regulated Security Compliance: </a:t>
            </a:r>
          </a:p>
          <a:p>
            <a:pPr>
              <a:spcAft>
                <a:spcPts val="1200"/>
              </a:spcAft>
              <a:defRPr sz="1250">
                <a:solidFill>
                  <a:srgbClr val="A89984"/>
                </a:solidFill>
                <a:latin typeface="Arial"/>
              </a:defRPr>
            </a:pPr>
            <a:r>
              <a:t>Supports TLS 1.3, Mutual TLS (mTLS) for client verification, and Single Sign-On (OIDC/Okta) for web access. Specifically designed for air-gapped systems.</a:t>
            </a:r>
          </a:p>
          <a:p>
            <a:pPr>
              <a:spcAft>
                <a:spcPts val="200"/>
              </a:spcAft>
              <a:defRPr sz="1400" b="1">
                <a:solidFill>
                  <a:srgbClr val="EBDBB2"/>
                </a:solidFill>
                <a:latin typeface="Arial"/>
              </a:defRPr>
            </a:pPr>
            <a:r>
              <a:t>• Prefix &amp; Scope Isolation: </a:t>
            </a:r>
          </a:p>
          <a:p>
            <a:pPr>
              <a:spcAft>
                <a:spcPts val="1200"/>
              </a:spcAft>
              <a:defRPr sz="1250">
                <a:solidFill>
                  <a:srgbClr val="A89984"/>
                </a:solidFill>
                <a:latin typeface="Arial"/>
              </a:defRPr>
            </a:pPr>
            <a:r>
              <a:t>Assigns tool namespaces (e.g. stripe_get_invoice) and generates specific client keys scoped to exact namespace globs.</a:t>
            </a:r>
          </a:p>
          <a:p>
            <a:pPr>
              <a:spcAft>
                <a:spcPts val="200"/>
              </a:spcAft>
              <a:defRPr sz="1400" b="1">
                <a:solidFill>
                  <a:srgbClr val="EBDBB2"/>
                </a:solidFill>
                <a:latin typeface="Arial"/>
              </a:defRPr>
            </a:pPr>
            <a:r>
              <a:t>• SPDX Software Bill of Materials: </a:t>
            </a:r>
          </a:p>
          <a:p>
            <a:pPr>
              <a:spcAft>
                <a:spcPts val="1200"/>
              </a:spcAft>
              <a:defRPr sz="1250">
                <a:solidFill>
                  <a:srgbClr val="A89984"/>
                </a:solidFill>
                <a:latin typeface="Arial"/>
              </a:defRPr>
            </a:pPr>
            <a:r>
              <a:t>Build pipelines generate validated SBOM files, proving dependency compliance in auditing reviews.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E8019"/>
                </a:solidFill>
                <a:latin typeface="Arial"/>
              </a:defRPr>
            </a:pPr>
            <a:r>
              <a:t>JANUS MCP API 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BDBB2"/>
                </a:solidFill>
                <a:latin typeface="Arial"/>
              </a:defRPr>
            </a:pPr>
            <a:r>
              <a:t>The Administration Web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BDBB2"/>
                </a:solidFill>
                <a:latin typeface="Arial"/>
              </a:defRPr>
            </a:pPr>
            <a:r>
              <a:t>• Central Control Plane: </a:t>
            </a:r>
          </a:p>
          <a:p>
            <a:pPr>
              <a:spcAft>
                <a:spcPts val="1200"/>
              </a:spcAft>
              <a:defRPr sz="1250">
                <a:solidFill>
                  <a:srgbClr val="A89984"/>
                </a:solidFill>
                <a:latin typeface="Arial"/>
              </a:defRPr>
            </a:pPr>
            <a:r>
              <a:t>A beautiful, premium single-page web console embedded directly inside the Go binary. Rebuilt using standard HTML &amp; CSS for zero external asset dependency.</a:t>
            </a:r>
          </a:p>
          <a:p>
            <a:pPr>
              <a:spcAft>
                <a:spcPts val="200"/>
              </a:spcAft>
              <a:defRPr sz="1400" b="1">
                <a:solidFill>
                  <a:srgbClr val="EBDBB2"/>
                </a:solidFill>
                <a:latin typeface="Arial"/>
              </a:defRPr>
            </a:pPr>
            <a:r>
              <a:t>• Connection &amp; Endpoint Wizards: </a:t>
            </a:r>
          </a:p>
          <a:p>
            <a:pPr>
              <a:spcAft>
                <a:spcPts val="1200"/>
              </a:spcAft>
              <a:defRPr sz="1250">
                <a:solidFill>
                  <a:srgbClr val="A89984"/>
                </a:solidFill>
                <a:latin typeface="Arial"/>
              </a:defRPr>
            </a:pPr>
            <a:r>
              <a:t>Wizard dialogs to easily link target microservices, define HTTP paths, specify methods, and input JSON schemas for tool call arguments.</a:t>
            </a:r>
          </a:p>
          <a:p>
            <a:pPr>
              <a:spcAft>
                <a:spcPts val="200"/>
              </a:spcAft>
              <a:defRPr sz="1400" b="1">
                <a:solidFill>
                  <a:srgbClr val="EBDBB2"/>
                </a:solidFill>
                <a:latin typeface="Arial"/>
              </a:defRPr>
            </a:pPr>
            <a:r>
              <a:t>• Client Access Scopes: </a:t>
            </a:r>
          </a:p>
          <a:p>
            <a:pPr>
              <a:spcAft>
                <a:spcPts val="1200"/>
              </a:spcAft>
              <a:defRPr sz="1250">
                <a:solidFill>
                  <a:srgbClr val="A89984"/>
                </a:solidFill>
                <a:latin typeface="Arial"/>
              </a:defRPr>
            </a:pPr>
            <a:r>
              <a:t>Administrators can generate client bearer tokens and limit their execution capability to specific API connection subsets.</a:t>
            </a:r>
          </a:p>
        </p:txBody>
      </p:sp>
      <p:pic>
        <p:nvPicPr>
          <p:cNvPr id="5" name="Picture 4" descr="portal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212080" cy="24087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475488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A89984"/>
                </a:solidFill>
                <a:latin typeface="Arial"/>
              </a:defRPr>
            </a:pPr>
            <a:r>
              <a:t>Figure 3.1: Central gateway monitoring dashboard console in dark mode.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E8019"/>
                </a:solidFill>
                <a:latin typeface="Arial"/>
              </a:defRPr>
            </a:pPr>
            <a:r>
              <a:t>JANUS MCP API 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BDBB2"/>
                </a:solidFill>
                <a:latin typeface="Arial"/>
              </a:defRPr>
            </a:pPr>
            <a:r>
              <a:t>Operational Telemetry &amp; Auditing</a:t>
            </a:r>
          </a:p>
        </p:txBody>
      </p:sp>
      <p:pic>
        <p:nvPicPr>
          <p:cNvPr id="4" name="Picture 3" descr="portal_tele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5212080" cy="23843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75488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A89984"/>
                </a:solidFill>
                <a:latin typeface="Arial"/>
              </a:defRPr>
            </a:pPr>
            <a:r>
              <a:t>Figure 4.1: Real-time traffic, database, and connection telemetry.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BDBB2"/>
                </a:solidFill>
                <a:latin typeface="Arial"/>
              </a:defRPr>
            </a:pPr>
            <a:r>
              <a:t>• Continuous Telemetry: </a:t>
            </a:r>
          </a:p>
          <a:p>
            <a:pPr>
              <a:spcAft>
                <a:spcPts val="1200"/>
              </a:spcAft>
              <a:defRPr sz="1250">
                <a:solidFill>
                  <a:srgbClr val="A89984"/>
                </a:solidFill>
                <a:latin typeface="Arial"/>
              </a:defRPr>
            </a:pPr>
            <a:r>
              <a:t>Real-time tracking of request volumes, processing latency, DB size, active tokens, and upstream REST path health.</a:t>
            </a:r>
          </a:p>
          <a:p>
            <a:pPr>
              <a:spcAft>
                <a:spcPts val="200"/>
              </a:spcAft>
              <a:defRPr sz="1400" b="1">
                <a:solidFill>
                  <a:srgbClr val="EBDBB2"/>
                </a:solidFill>
                <a:latin typeface="Arial"/>
              </a:defRPr>
            </a:pPr>
            <a:r>
              <a:t>• Compliance Audit Logs: </a:t>
            </a:r>
          </a:p>
          <a:p>
            <a:pPr>
              <a:spcAft>
                <a:spcPts val="1200"/>
              </a:spcAft>
              <a:defRPr sz="1250">
                <a:solidFill>
                  <a:srgbClr val="A89984"/>
                </a:solidFill>
                <a:latin typeface="Arial"/>
              </a:defRPr>
            </a:pPr>
            <a:r>
              <a:t>Full historical table captures caller details, requested tools, dynamic HTTP target URL execution, success/error status, and duration.</a:t>
            </a:r>
          </a:p>
          <a:p>
            <a:pPr>
              <a:spcAft>
                <a:spcPts val="200"/>
              </a:spcAft>
              <a:defRPr sz="1400" b="1">
                <a:solidFill>
                  <a:srgbClr val="EBDBB2"/>
                </a:solidFill>
                <a:latin typeface="Arial"/>
              </a:defRPr>
            </a:pPr>
            <a:r>
              <a:t>• Prometheus Metrics Integration: </a:t>
            </a:r>
          </a:p>
          <a:p>
            <a:pPr>
              <a:spcAft>
                <a:spcPts val="1200"/>
              </a:spcAft>
              <a:defRPr sz="1250">
                <a:solidFill>
                  <a:srgbClr val="A89984"/>
                </a:solidFill>
                <a:latin typeface="Arial"/>
              </a:defRPr>
            </a:pPr>
            <a:r>
              <a:t>Exposes standard raw Prometheus endpoints `/metrics` for integration with company-wide DataDog, Grafana, or OpenTelemetry systems.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E8019"/>
                </a:solidFill>
                <a:latin typeface="Arial"/>
              </a:defRPr>
            </a:pPr>
            <a:r>
              <a:t>JANUS MCP API 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BDBB2"/>
                </a:solidFill>
                <a:latin typeface="Arial"/>
              </a:defRPr>
            </a:pPr>
            <a:r>
              <a:t>Remote Administration &amp; CLI Utility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BDBB2"/>
                </a:solidFill>
                <a:latin typeface="Arial"/>
              </a:defRPr>
            </a:pPr>
            <a:r>
              <a:t>• Problem: Access Limitations: </a:t>
            </a:r>
          </a:p>
          <a:p>
            <a:pPr>
              <a:spcAft>
                <a:spcPts val="1200"/>
              </a:spcAft>
              <a:defRPr sz="1250">
                <a:solidFill>
                  <a:srgbClr val="A89984"/>
                </a:solidFill>
                <a:latin typeface="Arial"/>
              </a:defRPr>
            </a:pPr>
            <a:r>
              <a:t>Regulated networks prevent direct server console access or UI connections. Administrators need lightweight, remote, secure script tools.</a:t>
            </a:r>
          </a:p>
          <a:p>
            <a:pPr>
              <a:spcAft>
                <a:spcPts val="200"/>
              </a:spcAft>
              <a:defRPr sz="1400" b="1">
                <a:solidFill>
                  <a:srgbClr val="EBDBB2"/>
                </a:solidFill>
                <a:latin typeface="Arial"/>
              </a:defRPr>
            </a:pPr>
            <a:r>
              <a:t>• Solution: mcp-cli Utility: </a:t>
            </a:r>
          </a:p>
          <a:p>
            <a:pPr>
              <a:spcAft>
                <a:spcPts val="1200"/>
              </a:spcAft>
              <a:defRPr sz="1250">
                <a:solidFill>
                  <a:srgbClr val="A89984"/>
                </a:solidFill>
                <a:latin typeface="Arial"/>
              </a:defRPr>
            </a:pPr>
            <a:r>
              <a:t>A compiled command-line binary that connects to the portal API remotely over secure JWT sessions. Operates cleanly in local command shells.</a:t>
            </a:r>
          </a:p>
          <a:p>
            <a:pPr>
              <a:spcAft>
                <a:spcPts val="200"/>
              </a:spcAft>
              <a:defRPr sz="1400" b="1">
                <a:solidFill>
                  <a:srgbClr val="EBDBB2"/>
                </a:solidFill>
                <a:latin typeface="Arial"/>
              </a:defRPr>
            </a:pPr>
            <a:r>
              <a:t>• CLI Core Capabilities: </a:t>
            </a:r>
          </a:p>
          <a:p>
            <a:pPr>
              <a:spcAft>
                <a:spcPts val="1200"/>
              </a:spcAft>
              <a:defRPr sz="1250">
                <a:solidFill>
                  <a:srgbClr val="A89984"/>
                </a:solidFill>
                <a:latin typeface="Arial"/>
              </a:defRPr>
            </a:pPr>
            <a:r>
              <a:t>1. Remote authentication and session storage.</a:t>
            </a:r>
            <a:br/>
            <a:r>
              <a:t>2. Diagnostic connectivity test: 'mcp-cli verify'.</a:t>
            </a:r>
            <a:br/>
            <a:r>
              <a:t>3. Secret credential injection: 'mcp-cli vault set'.</a:t>
            </a:r>
            <a:br/>
            <a:r>
              <a:t>4. Real-time diagnostic metrics: 'mcp-cli status'.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212080" cy="4114800"/>
          </a:xfrm>
          <a:prstGeom prst="rect">
            <a:avLst/>
          </a:prstGeom>
          <a:solidFill>
            <a:srgbClr val="0F1112"/>
          </a:solidFill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A89984"/>
                </a:solidFill>
                <a:latin typeface="Courier New"/>
              </a:defRPr>
            </a:pPr>
            <a:r>
              <a:t>  # Authenticate with Gateway</a:t>
            </a:r>
          </a:p>
          <a:p>
            <a:pPr>
              <a:spcAft>
                <a:spcPts val="200"/>
              </a:spcAft>
              <a:defRPr sz="1250" b="1">
                <a:solidFill>
                  <a:srgbClr val="FFFFFF"/>
                </a:solidFill>
                <a:latin typeface="Courier New"/>
              </a:defRPr>
            </a:pPr>
            <a:r>
              <a:t>  $ mcp-cli login admin --addr http://localhost:8899</a:t>
            </a:r>
          </a:p>
          <a:p>
            <a:pPr>
              <a:spcAft>
                <a:spcPts val="1000"/>
              </a:spcAft>
              <a:defRPr sz="1100">
                <a:solidFill>
                  <a:srgbClr val="FE8019"/>
                </a:solidFill>
                <a:latin typeface="Courier New"/>
              </a:defRPr>
            </a:pPr>
            <a:r>
              <a:t>  ✔ Successfully logged in. Session JWT saved.</a:t>
            </a:r>
          </a:p>
          <a:p>
            <a:pPr>
              <a:spcAft>
                <a:spcPts val="200"/>
              </a:spcAft>
              <a:defRPr sz="1250" b="1">
                <a:solidFill>
                  <a:srgbClr val="FFFFFF"/>
                </a:solidFill>
                <a:latin typeface="Courier New"/>
              </a:defRPr>
            </a:pPr>
            <a:r>
              <a:t>  $ mcp-cli verify</a:t>
            </a:r>
          </a:p>
          <a:p>
            <a:pPr>
              <a:spcAft>
                <a:spcPts val="1000"/>
              </a:spcAft>
              <a:defRPr sz="1100">
                <a:solidFill>
                  <a:srgbClr val="FE8019"/>
                </a:solidFill>
                <a:latin typeface="Courier New"/>
              </a:defRPr>
            </a:pPr>
            <a:r>
              <a:t>  ✔ Connection [stripe] is HEALTHY (200 OK)</a:t>
            </a:r>
            <a:br/>
            <a:r>
              <a:t>✔ Connection [weather] is HEALTHY (200 OK)</a:t>
            </a:r>
          </a:p>
          <a:p>
            <a:pPr>
              <a:spcAft>
                <a:spcPts val="200"/>
              </a:spcAft>
              <a:defRPr sz="1250" b="1">
                <a:solidFill>
                  <a:srgbClr val="FFFFFF"/>
                </a:solidFill>
                <a:latin typeface="Courier New"/>
              </a:defRPr>
            </a:pPr>
            <a:r>
              <a:t>  $ mcp-cli status</a:t>
            </a:r>
          </a:p>
          <a:p>
            <a:pPr>
              <a:spcAft>
                <a:spcPts val="1000"/>
              </a:spcAft>
              <a:defRPr sz="1100">
                <a:solidFill>
                  <a:srgbClr val="FE8019"/>
                </a:solidFill>
                <a:latin typeface="Courier New"/>
              </a:defRPr>
            </a:pPr>
            <a:r>
              <a:t>  Uptime: 2d 4h 12m  |  DB Size: 64.0 KB</a:t>
            </a:r>
            <a:br/>
            <a:r>
              <a:t>Total Requests: 1,842  |  Failure Rate: 0.2%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E8019"/>
                </a:solidFill>
                <a:latin typeface="Arial"/>
              </a:defRPr>
            </a:pPr>
            <a:r>
              <a:t>JANUS MCP API 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BDBB2"/>
                </a:solidFill>
                <a:latin typeface="Arial"/>
              </a:defRPr>
            </a:pPr>
            <a:r>
              <a:t>Developer Onboarding &amp;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BDBB2"/>
                </a:solidFill>
                <a:latin typeface="Arial"/>
              </a:defRPr>
            </a:pPr>
            <a:r>
              <a:t>• Interactive Swagger Explorer: </a:t>
            </a:r>
          </a:p>
          <a:p>
            <a:pPr>
              <a:spcAft>
                <a:spcPts val="1200"/>
              </a:spcAft>
              <a:defRPr sz="1250">
                <a:solidFill>
                  <a:srgbClr val="A89984"/>
                </a:solidFill>
                <a:latin typeface="Arial"/>
              </a:defRPr>
            </a:pPr>
            <a:r>
              <a:t>The gateway automatically translates registered MCP tool mappings into a unified Swagger/OpenAPI spec page served at `/swagger.html` for easy testing.</a:t>
            </a:r>
          </a:p>
          <a:p>
            <a:pPr>
              <a:spcAft>
                <a:spcPts val="200"/>
              </a:spcAft>
              <a:defRPr sz="1400" b="1">
                <a:solidFill>
                  <a:srgbClr val="EBDBB2"/>
                </a:solidFill>
                <a:latin typeface="Arial"/>
              </a:defRPr>
            </a:pPr>
            <a:r>
              <a:t>• Local Stdio Integration: </a:t>
            </a:r>
          </a:p>
          <a:p>
            <a:pPr>
              <a:spcAft>
                <a:spcPts val="1200"/>
              </a:spcAft>
              <a:defRPr sz="1250">
                <a:solidFill>
                  <a:srgbClr val="A89984"/>
                </a:solidFill>
                <a:latin typeface="Arial"/>
              </a:defRPr>
            </a:pPr>
            <a:r>
              <a:t>Developers add the gateway directly into local IDE config files (e.g. Claude Desktop config) pointing to the compiled Go binary.</a:t>
            </a:r>
          </a:p>
          <a:p>
            <a:pPr>
              <a:spcAft>
                <a:spcPts val="200"/>
              </a:spcAft>
              <a:defRPr sz="1400" b="1">
                <a:solidFill>
                  <a:srgbClr val="EBDBB2"/>
                </a:solidFill>
                <a:latin typeface="Arial"/>
              </a:defRPr>
            </a:pPr>
            <a:r>
              <a:t>• Nix Declarative Sandbox: </a:t>
            </a:r>
          </a:p>
          <a:p>
            <a:pPr>
              <a:spcAft>
                <a:spcPts val="1200"/>
              </a:spcAft>
              <a:defRPr sz="1250">
                <a:solidFill>
                  <a:srgbClr val="A89984"/>
                </a:solidFill>
                <a:latin typeface="Arial"/>
              </a:defRPr>
            </a:pPr>
            <a:r>
              <a:t>Provides a reproducible build environment via Nix flakes. Run 'just build' to compile and 'just validate' to run tests.</a:t>
            </a:r>
          </a:p>
        </p:txBody>
      </p:sp>
      <p:pic>
        <p:nvPicPr>
          <p:cNvPr id="5" name="Picture 4" descr="portal_swagger_ui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212080" cy="23755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475488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A89984"/>
                </a:solidFill>
                <a:latin typeface="Arial"/>
              </a:defRPr>
            </a:pPr>
            <a:r>
              <a:t>Figure 6.1: Unified interactive Swagger UI API documentation explorer.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E8019"/>
                </a:solidFill>
                <a:latin typeface="Arial"/>
              </a:defRPr>
            </a:pPr>
            <a:r>
              <a:t>AGENT CLIENT INTEGRATIONS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BDBB2"/>
                </a:solidFill>
                <a:latin typeface="Arial"/>
              </a:defRPr>
            </a:pPr>
            <a:r>
              <a:t>Multi-Agent Client 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BDBB2"/>
                </a:solidFill>
                <a:latin typeface="Arial"/>
              </a:defRPr>
            </a:pPr>
            <a:r>
              <a:t>• Claude &amp; Desktop IDEs (Stdio): </a:t>
            </a:r>
          </a:p>
          <a:p>
            <a:pPr>
              <a:spcAft>
                <a:spcPts val="1200"/>
              </a:spcAft>
              <a:defRPr sz="1250">
                <a:solidFill>
                  <a:srgbClr val="A89984"/>
                </a:solidFill>
                <a:latin typeface="Arial"/>
              </a:defRPr>
            </a:pPr>
            <a:r>
              <a:t>Claude Desktop, VS Code Copilot extensions, and Codex wrappers connect via the stdin/stdout channel. The local client spawns the Janus binary as a sub-process, passing the authentication token securely in the process environment.</a:t>
            </a:r>
          </a:p>
          <a:p>
            <a:pPr>
              <a:spcAft>
                <a:spcPts val="200"/>
              </a:spcAft>
              <a:defRPr sz="1400" b="1">
                <a:solidFill>
                  <a:srgbClr val="EBDBB2"/>
                </a:solidFill>
                <a:latin typeface="Arial"/>
              </a:defRPr>
            </a:pPr>
            <a:r>
              <a:t>• Antigravity &amp; Web Agents (SSE): </a:t>
            </a:r>
          </a:p>
          <a:p>
            <a:pPr>
              <a:spcAft>
                <a:spcPts val="1200"/>
              </a:spcAft>
              <a:defRPr sz="1250">
                <a:solidFill>
                  <a:srgbClr val="A89984"/>
                </a:solidFill>
                <a:latin typeface="Arial"/>
              </a:defRPr>
            </a:pPr>
            <a:r>
              <a:t>Google Antigravity SDK and other server-side agentic frameworks query tools over Server-Sent Events (SSE). The gateway acts as a high-performance SSE streaming server, validating headers on every frame.</a:t>
            </a:r>
          </a:p>
          <a:p>
            <a:pPr>
              <a:spcAft>
                <a:spcPts val="200"/>
              </a:spcAft>
              <a:defRPr sz="1400" b="1">
                <a:solidFill>
                  <a:srgbClr val="EBDBB2"/>
                </a:solidFill>
                <a:latin typeface="Arial"/>
              </a:defRPr>
            </a:pPr>
            <a:r>
              <a:t>• Dynamic Tool Discovery: </a:t>
            </a:r>
          </a:p>
          <a:p>
            <a:pPr>
              <a:spcAft>
                <a:spcPts val="1200"/>
              </a:spcAft>
              <a:defRPr sz="1250">
                <a:solidFill>
                  <a:srgbClr val="A89984"/>
                </a:solidFill>
                <a:latin typeface="Arial"/>
              </a:defRPr>
            </a:pPr>
            <a:r>
              <a:t>Regardless of client (Claude, Copilot, or Antigravity), the client automatically queries the `tools/list` endpoint at startup. It dynamically retrieves up-to-date tool schemas without hardcoded mapping updates.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212080" cy="4114800"/>
          </a:xfrm>
          <a:prstGeom prst="rect">
            <a:avLst/>
          </a:prstGeom>
          <a:solidFill>
            <a:srgbClr val="0F1112"/>
          </a:solidFill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89984"/>
                </a:solidFill>
                <a:latin typeface="Courier New"/>
              </a:defRPr>
            </a:pPr>
            <a:r>
              <a:t>  // Claude Desktop Integration (claude_desktop_config.json)</a:t>
            </a:r>
          </a:p>
          <a:p>
            <a:pPr>
              <a:spcAft>
                <a:spcPts val="1200"/>
              </a:spcAft>
              <a:defRPr sz="1050">
                <a:solidFill>
                  <a:srgbClr val="FFFFFF"/>
                </a:solidFill>
                <a:latin typeface="Courier New"/>
              </a:defRPr>
            </a:pPr>
            <a:r>
              <a:t>  {</a:t>
            </a:r>
            <a:br/>
            <a:r>
              <a:t>    "mcpServers": {</a:t>
            </a:r>
            <a:br/>
            <a:r>
              <a:t>      "janus-gateway": {</a:t>
            </a:r>
            <a:br/>
            <a:r>
              <a:t>        "command": "/usr/local/bin/mcp-gateway",</a:t>
            </a:r>
            <a:br/>
            <a:r>
              <a:t>        "args": ["-stdio"],</a:t>
            </a:r>
            <a:br/>
            <a:r>
              <a:t>        "env": {</a:t>
            </a:r>
            <a:br/>
            <a:r>
              <a:t>          "MCP_GATEWAY_TOKEN": "client-bearer-token"</a:t>
            </a:r>
            <a:br/>
            <a:r>
              <a:t>        }</a:t>
            </a:r>
            <a:br/>
            <a:r>
              <a:t>      }</a:t>
            </a:r>
            <a:br/>
            <a:r>
              <a:t>    }</a:t>
            </a:r>
            <a:br/>
            <a:r>
              <a:t>  }</a:t>
            </a:r>
          </a:p>
          <a:p>
            <a:pPr>
              <a:spcAft>
                <a:spcPts val="200"/>
              </a:spcAft>
              <a:defRPr sz="1100">
                <a:solidFill>
                  <a:srgbClr val="A89984"/>
                </a:solidFill>
                <a:latin typeface="Courier New"/>
              </a:defRPr>
            </a:pPr>
            <a:r>
              <a:t>  # Antigravity SDK Integration (Python)</a:t>
            </a:r>
          </a:p>
          <a:p>
            <a:pPr>
              <a:defRPr sz="1050">
                <a:solidFill>
                  <a:srgbClr val="FE8019"/>
                </a:solidFill>
                <a:latin typeface="Courier New"/>
              </a:defRPr>
            </a:pPr>
            <a:r>
              <a:t>  from antigravity_sdk import Agent, ToolRegistry</a:t>
            </a:r>
            <a:br/>
            <a:r>
              <a:t>  reg = ToolRegistry.from_mcp_sse(</a:t>
            </a:r>
            <a:br/>
            <a:r>
              <a:t>      url="http://localhost:8899/sse",</a:t>
            </a:r>
            <a:br/>
            <a:r>
              <a:t>      headers={"Authorization": "Bearer token"}</a:t>
            </a:r>
            <a:br/>
            <a:r>
              <a:t>  )</a:t>
            </a:r>
            <a:br/>
            <a:r>
              <a:t>  agent = Agent(tools=reg.list_tools())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E8019"/>
                </a:solidFill>
                <a:latin typeface="Arial"/>
              </a:defRPr>
            </a:pPr>
            <a:r>
              <a:t>ENTERPRISE SECURITY &amp;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BDBB2"/>
                </a:solidFill>
                <a:latin typeface="Arial"/>
              </a:defRPr>
            </a:pPr>
            <a:r>
              <a:t>API Security Shield &amp; Enterprise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BDBB2"/>
                </a:solidFill>
                <a:latin typeface="Arial"/>
              </a:defRPr>
            </a:pPr>
            <a:r>
              <a:t>• Credential Redaction (Zero-Trust): </a:t>
            </a:r>
          </a:p>
          <a:p>
            <a:pPr>
              <a:spcAft>
                <a:spcPts val="1200"/>
              </a:spcAft>
              <a:defRPr sz="1250">
                <a:solidFill>
                  <a:srgbClr val="A89984"/>
                </a:solidFill>
                <a:latin typeface="Arial"/>
              </a:defRPr>
            </a:pPr>
            <a:r>
              <a:t>Secrets (API keys, Basic Auth, custom headers) are stored in secure cloud/local vaults (AWS, GCP, Azure, SQLite). The LLM agent only queries references (e.g. prod/stripe/key); the gateway injects secrets at runtime, keeping them hidden from LLM memory.</a:t>
            </a:r>
          </a:p>
          <a:p>
            <a:pPr>
              <a:spcAft>
                <a:spcPts val="200"/>
              </a:spcAft>
              <a:defRPr sz="1400" b="1">
                <a:solidFill>
                  <a:srgbClr val="EBDBB2"/>
                </a:solidFill>
                <a:latin typeface="Arial"/>
              </a:defRPr>
            </a:pPr>
            <a:r>
              <a:t>• Namespace Prefix Scoping: </a:t>
            </a:r>
          </a:p>
          <a:p>
            <a:pPr>
              <a:spcAft>
                <a:spcPts val="1200"/>
              </a:spcAft>
              <a:defRPr sz="1250">
                <a:solidFill>
                  <a:srgbClr val="A89984"/>
                </a:solidFill>
                <a:latin typeface="Arial"/>
              </a:defRPr>
            </a:pPr>
            <a:r>
              <a:t>Isolates microservice endpoints behind client token scopes (e.g. stripe_*). Prevents prompt-injection attacks from triggering cross-service commands.</a:t>
            </a:r>
          </a:p>
          <a:p>
            <a:pPr>
              <a:spcAft>
                <a:spcPts val="200"/>
              </a:spcAft>
              <a:defRPr sz="1400" b="1">
                <a:solidFill>
                  <a:srgbClr val="EBDBB2"/>
                </a:solidFill>
                <a:latin typeface="Arial"/>
              </a:defRPr>
            </a:pPr>
            <a:r>
              <a:t>• Audit &amp; mTLS Enforcement: </a:t>
            </a:r>
          </a:p>
          <a:p>
            <a:pPr>
              <a:spcAft>
                <a:spcPts val="1200"/>
              </a:spcAft>
              <a:defRPr sz="1250">
                <a:solidFill>
                  <a:srgbClr val="A89984"/>
                </a:solidFill>
                <a:latin typeface="Arial"/>
              </a:defRPr>
            </a:pPr>
            <a:r>
              <a:t>Every transaction is audited for duration, caller identity, and errors. Client-side CA checks enforce Mutual TLS (mTLS) for all incoming SSE traffic.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BDBB2"/>
                </a:solidFill>
                <a:latin typeface="Arial"/>
              </a:defRPr>
            </a:pPr>
            <a:r>
              <a:t>• Unified API-to-Tool Workspace: </a:t>
            </a:r>
          </a:p>
          <a:p>
            <a:pPr>
              <a:spcAft>
                <a:spcPts val="1200"/>
              </a:spcAft>
              <a:defRPr sz="1250">
                <a:solidFill>
                  <a:srgbClr val="A89984"/>
                </a:solidFill>
                <a:latin typeface="Arial"/>
              </a:defRPr>
            </a:pPr>
            <a:r>
              <a:t>Exposes all legacy microservices and proprietary REST APIs as standard local capabilities to your developer AI stack.</a:t>
            </a:r>
          </a:p>
          <a:p>
            <a:pPr>
              <a:spcAft>
                <a:spcPts val="200"/>
              </a:spcAft>
              <a:defRPr sz="1400" b="1">
                <a:solidFill>
                  <a:srgbClr val="EBDBB2"/>
                </a:solidFill>
                <a:latin typeface="Arial"/>
              </a:defRPr>
            </a:pPr>
            <a:r>
              <a:t>• Air-Gapped Operation: </a:t>
            </a:r>
          </a:p>
          <a:p>
            <a:pPr>
              <a:spcAft>
                <a:spcPts val="1200"/>
              </a:spcAft>
              <a:defRPr sz="1250">
                <a:solidFill>
                  <a:srgbClr val="A89984"/>
                </a:solidFill>
                <a:latin typeface="Arial"/>
              </a:defRPr>
            </a:pPr>
            <a:r>
              <a:t>Enables fully local LLM workflows in offline development terminals with no external telemetry egress.</a:t>
            </a:r>
          </a:p>
          <a:p>
            <a:pPr>
              <a:spcAft>
                <a:spcPts val="200"/>
              </a:spcAft>
              <a:defRPr sz="1400" b="1">
                <a:solidFill>
                  <a:srgbClr val="EBDBB2"/>
                </a:solidFill>
                <a:latin typeface="Arial"/>
              </a:defRPr>
            </a:pPr>
            <a:r>
              <a:t>• Dynamic Capability Updates: </a:t>
            </a:r>
          </a:p>
          <a:p>
            <a:pPr>
              <a:spcAft>
                <a:spcPts val="1200"/>
              </a:spcAft>
              <a:defRPr sz="1250">
                <a:solidFill>
                  <a:srgbClr val="A89984"/>
                </a:solidFill>
                <a:latin typeface="Arial"/>
              </a:defRPr>
            </a:pPr>
            <a:r>
              <a:t>Updating an endpoint mapping in the portal instantly exposes the new tool capability to all connected Claude, Copilot, and Antigravity agents without recompilation.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